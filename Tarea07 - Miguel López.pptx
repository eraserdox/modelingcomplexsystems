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2" r:id="rId3"/>
    <p:sldId id="273" r:id="rId4"/>
    <p:sldId id="274" r:id="rId5"/>
    <p:sldId id="275" r:id="rId6"/>
    <p:sldId id="266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A05DF-D0D8-42F9-B4D5-67C4FDA74EAE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DB15-43AC-41FD-BA8C-565076A2D62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7353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A05DF-D0D8-42F9-B4D5-67C4FDA74EAE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DB15-43AC-41FD-BA8C-565076A2D62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786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A05DF-D0D8-42F9-B4D5-67C4FDA74EAE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DB15-43AC-41FD-BA8C-565076A2D62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62411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A05DF-D0D8-42F9-B4D5-67C4FDA74EAE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DB15-43AC-41FD-BA8C-565076A2D62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9309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A05DF-D0D8-42F9-B4D5-67C4FDA74EAE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DB15-43AC-41FD-BA8C-565076A2D62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66047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A05DF-D0D8-42F9-B4D5-67C4FDA74EAE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DB15-43AC-41FD-BA8C-565076A2D62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319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A05DF-D0D8-42F9-B4D5-67C4FDA74EAE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DB15-43AC-41FD-BA8C-565076A2D62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4914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A05DF-D0D8-42F9-B4D5-67C4FDA74EAE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DB15-43AC-41FD-BA8C-565076A2D62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922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A05DF-D0D8-42F9-B4D5-67C4FDA74EAE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DB15-43AC-41FD-BA8C-565076A2D62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9060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A05DF-D0D8-42F9-B4D5-67C4FDA74EAE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DB15-43AC-41FD-BA8C-565076A2D62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2529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A05DF-D0D8-42F9-B4D5-67C4FDA74EAE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DB15-43AC-41FD-BA8C-565076A2D624}" type="slidenum">
              <a:rPr lang="es-MX" smtClean="0"/>
              <a:t>‹Nº›</a:t>
            </a:fld>
            <a:endParaRPr lang="es-MX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1909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A05DF-D0D8-42F9-B4D5-67C4FDA74EAE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DB15-43AC-41FD-BA8C-565076A2D62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4307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A05DF-D0D8-42F9-B4D5-67C4FDA74EAE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DB15-43AC-41FD-BA8C-565076A2D624}" type="slidenum">
              <a:rPr lang="es-MX" smtClean="0"/>
              <a:t>‹Nº›</a:t>
            </a:fld>
            <a:endParaRPr lang="es-MX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1680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A05DF-D0D8-42F9-B4D5-67C4FDA74EAE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DB15-43AC-41FD-BA8C-565076A2D62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2127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A05DF-D0D8-42F9-B4D5-67C4FDA74EAE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DB15-43AC-41FD-BA8C-565076A2D62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78204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A05DF-D0D8-42F9-B4D5-67C4FDA74EAE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DB15-43AC-41FD-BA8C-565076A2D62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1323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A05DF-D0D8-42F9-B4D5-67C4FDA74EAE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C72DB15-43AC-41FD-BA8C-565076A2D62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17814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Simulación de flujo en </a:t>
            </a:r>
            <a:r>
              <a:rPr lang="es-MX" dirty="0" err="1" smtClean="0"/>
              <a:t>Processing</a:t>
            </a:r>
            <a:endParaRPr lang="es-MX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 smtClean="0"/>
              <a:t>Miguel Angel López Sánchez</a:t>
            </a:r>
          </a:p>
          <a:p>
            <a:r>
              <a:rPr lang="es-MX" dirty="0" smtClean="0"/>
              <a:t>Modelado de Sistemas Complejos de Manera Discreta</a:t>
            </a:r>
          </a:p>
          <a:p>
            <a:r>
              <a:rPr lang="es-MX" dirty="0" smtClean="0"/>
              <a:t>13</a:t>
            </a:r>
            <a:r>
              <a:rPr lang="es-MX" dirty="0" smtClean="0"/>
              <a:t>/04/2026</a:t>
            </a:r>
            <a:endParaRPr lang="es-MX" dirty="0"/>
          </a:p>
        </p:txBody>
      </p:sp>
      <p:pic>
        <p:nvPicPr>
          <p:cNvPr id="4" name="Marcador de contenido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67" y="6012380"/>
            <a:ext cx="2550160" cy="79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384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Estados de las celdas</a:t>
            </a:r>
            <a:endParaRPr lang="es-MX" dirty="0"/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>
          <a:xfrm>
            <a:off x="677334" y="1270000"/>
            <a:ext cx="8111066" cy="5334000"/>
          </a:xfrm>
        </p:spPr>
        <p:txBody>
          <a:bodyPr>
            <a:normAutofit/>
          </a:bodyPr>
          <a:lstStyle/>
          <a:p>
            <a:pPr>
              <a:buFont typeface="+mj-lt"/>
              <a:buAutoNum type="arabicParenR"/>
            </a:pPr>
            <a:r>
              <a:rPr lang="es-MX" dirty="0" smtClean="0"/>
              <a:t>Bloque = -1</a:t>
            </a:r>
          </a:p>
          <a:p>
            <a:pPr>
              <a:buFont typeface="+mj-lt"/>
              <a:buAutoNum type="arabicParenR"/>
            </a:pPr>
            <a:r>
              <a:rPr lang="es-MX" dirty="0" smtClean="0"/>
              <a:t>Aire = 0</a:t>
            </a:r>
          </a:p>
          <a:p>
            <a:pPr>
              <a:buFont typeface="+mj-lt"/>
              <a:buAutoNum type="arabicParenR"/>
            </a:pPr>
            <a:r>
              <a:rPr lang="es-MX" dirty="0" smtClean="0"/>
              <a:t>Agua: cualquier valor mayor a 1</a:t>
            </a:r>
          </a:p>
          <a:p>
            <a:pPr>
              <a:buFont typeface="+mj-lt"/>
              <a:buAutoNum type="arabicParenR"/>
            </a:pPr>
            <a:endParaRPr lang="es-MX" dirty="0"/>
          </a:p>
          <a:p>
            <a:pPr marL="0" indent="0">
              <a:buNone/>
            </a:pPr>
            <a:r>
              <a:rPr lang="es-MX" dirty="0" smtClean="0"/>
              <a:t>Reinterpretación a que la presión puede variar y necesita propagarse para actualizar las celdas y descubrir nuevos caminos</a:t>
            </a:r>
            <a:endParaRPr lang="es-MX" dirty="0" smtClean="0"/>
          </a:p>
        </p:txBody>
      </p:sp>
      <p:pic>
        <p:nvPicPr>
          <p:cNvPr id="7" name="Marcador de contenido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60" y="6010882"/>
            <a:ext cx="2550160" cy="79181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194" y="3715592"/>
            <a:ext cx="4380768" cy="277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33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Reglas de transición</a:t>
            </a:r>
            <a:endParaRPr lang="es-MX" dirty="0"/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>
          <a:xfrm>
            <a:off x="677334" y="1270000"/>
            <a:ext cx="8111066" cy="4663872"/>
          </a:xfrm>
        </p:spPr>
        <p:txBody>
          <a:bodyPr>
            <a:normAutofit fontScale="92500" lnSpcReduction="20000"/>
          </a:bodyPr>
          <a:lstStyle/>
          <a:p>
            <a:pPr>
              <a:buFont typeface="+mj-lt"/>
              <a:buAutoNum type="arabicParenR"/>
            </a:pPr>
            <a:r>
              <a:rPr lang="es-MX" dirty="0" smtClean="0"/>
              <a:t>Si tengo presión menor a la media:</a:t>
            </a:r>
          </a:p>
          <a:p>
            <a:pPr lvl="1">
              <a:buFont typeface="+mj-lt"/>
              <a:buAutoNum type="arabicParenR"/>
            </a:pPr>
            <a:r>
              <a:rPr lang="es-MX" dirty="0" smtClean="0"/>
              <a:t>Si tengo agua abajo con presión baja, cedo 1</a:t>
            </a:r>
          </a:p>
          <a:p>
            <a:pPr lvl="1">
              <a:buFont typeface="+mj-lt"/>
              <a:buAutoNum type="arabicParenR"/>
            </a:pPr>
            <a:r>
              <a:rPr lang="es-MX" dirty="0" smtClean="0"/>
              <a:t>Si tengo más de 1 agua, cedo 1 a izquierda o derecha</a:t>
            </a:r>
          </a:p>
          <a:p>
            <a:pPr lvl="1">
              <a:buFont typeface="+mj-lt"/>
              <a:buAutoNum type="arabicParenR"/>
            </a:pPr>
            <a:endParaRPr lang="es-MX" dirty="0"/>
          </a:p>
          <a:p>
            <a:pPr>
              <a:buFont typeface="+mj-lt"/>
              <a:buAutoNum type="arabicParenR"/>
            </a:pPr>
            <a:r>
              <a:rPr lang="es-MX" dirty="0" smtClean="0"/>
              <a:t>Si tengo presión igual a la media</a:t>
            </a:r>
          </a:p>
          <a:p>
            <a:pPr lvl="1">
              <a:buFont typeface="+mj-lt"/>
              <a:buAutoNum type="arabicParenR"/>
            </a:pPr>
            <a:r>
              <a:rPr lang="es-MX" dirty="0" smtClean="0"/>
              <a:t>Si tengo agua abajo con presión alta, cedo 1</a:t>
            </a:r>
          </a:p>
          <a:p>
            <a:pPr lvl="1">
              <a:buFont typeface="+mj-lt"/>
              <a:buAutoNum type="arabicParenR"/>
            </a:pPr>
            <a:r>
              <a:rPr lang="es-MX" dirty="0" smtClean="0"/>
              <a:t>Si tengo más agua de la permitida, cedo a los lados</a:t>
            </a:r>
          </a:p>
          <a:p>
            <a:pPr lvl="1">
              <a:buFont typeface="+mj-lt"/>
              <a:buAutoNum type="arabicParenR"/>
            </a:pPr>
            <a:r>
              <a:rPr lang="es-MX" dirty="0" smtClean="0"/>
              <a:t>Si no moví nada, cedo 1 para arriba</a:t>
            </a:r>
          </a:p>
          <a:p>
            <a:pPr lvl="1">
              <a:buFont typeface="+mj-lt"/>
              <a:buAutoNum type="arabicParenR"/>
            </a:pPr>
            <a:endParaRPr lang="es-MX" dirty="0"/>
          </a:p>
          <a:p>
            <a:pPr>
              <a:buFont typeface="+mj-lt"/>
              <a:buAutoNum type="arabicParenR"/>
            </a:pPr>
            <a:r>
              <a:rPr lang="es-MX" dirty="0" smtClean="0"/>
              <a:t>Si tengo más presión de la media</a:t>
            </a:r>
          </a:p>
          <a:p>
            <a:pPr lvl="1">
              <a:buFont typeface="+mj-lt"/>
              <a:buAutoNum type="arabicParenR"/>
            </a:pPr>
            <a:r>
              <a:rPr lang="es-MX" dirty="0" smtClean="0"/>
              <a:t>Cedo ‘n’ siempre para arriba</a:t>
            </a:r>
          </a:p>
          <a:p>
            <a:pPr lvl="1">
              <a:buFont typeface="+mj-lt"/>
              <a:buAutoNum type="arabicParenR"/>
            </a:pPr>
            <a:r>
              <a:rPr lang="es-MX" dirty="0" smtClean="0"/>
              <a:t>Si puedo, cedo para abajo</a:t>
            </a:r>
          </a:p>
          <a:p>
            <a:pPr lvl="1">
              <a:buFont typeface="+mj-lt"/>
              <a:buAutoNum type="arabicParenR"/>
            </a:pPr>
            <a:r>
              <a:rPr lang="es-MX" dirty="0" smtClean="0"/>
              <a:t>Si puedo, cedo a los lados</a:t>
            </a:r>
          </a:p>
          <a:p>
            <a:pPr lvl="1">
              <a:buFont typeface="+mj-lt"/>
              <a:buAutoNum type="arabicParenR"/>
            </a:pPr>
            <a:r>
              <a:rPr lang="es-MX" dirty="0" smtClean="0"/>
              <a:t>Si puedo, cedo hacia arriba</a:t>
            </a:r>
            <a:endParaRPr lang="es-MX" dirty="0" smtClean="0"/>
          </a:p>
        </p:txBody>
      </p:sp>
      <p:pic>
        <p:nvPicPr>
          <p:cNvPr id="7" name="Marcador de contenido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60" y="6010882"/>
            <a:ext cx="2550160" cy="79181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367" y="2948318"/>
            <a:ext cx="3892223" cy="1857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1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Ejemplo de a</a:t>
            </a:r>
            <a:r>
              <a:rPr lang="es-MX" dirty="0" smtClean="0"/>
              <a:t>plicación</a:t>
            </a:r>
            <a:endParaRPr lang="es-MX" dirty="0"/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>
          <a:xfrm>
            <a:off x="677334" y="1270000"/>
            <a:ext cx="8111066" cy="4663872"/>
          </a:xfrm>
        </p:spPr>
        <p:txBody>
          <a:bodyPr>
            <a:normAutofit/>
          </a:bodyPr>
          <a:lstStyle/>
          <a:p>
            <a:r>
              <a:rPr lang="es-MX" dirty="0" smtClean="0"/>
              <a:t>Copa de Pitágoras:</a:t>
            </a:r>
          </a:p>
          <a:p>
            <a:pPr lvl="1"/>
            <a:r>
              <a:rPr lang="es-MX" dirty="0"/>
              <a:t>La Copa de Pitágoras es un recipiente para bebida que obliga al usuario a beber con moderación. Esta invención, atribuida a Pitágoras de Samos, permite llenar la copa solo hasta cierto nivel porque, una vez superado este límite, la copa vacía su contenido.​</a:t>
            </a:r>
            <a:endParaRPr lang="es-MX" dirty="0" smtClean="0"/>
          </a:p>
        </p:txBody>
      </p:sp>
      <p:pic>
        <p:nvPicPr>
          <p:cNvPr id="7" name="Marcador de contenido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60" y="6010882"/>
            <a:ext cx="2550160" cy="791811"/>
          </a:xfrm>
          <a:prstGeom prst="rect">
            <a:avLst/>
          </a:prstGeom>
        </p:spPr>
      </p:pic>
      <p:pic>
        <p:nvPicPr>
          <p:cNvPr id="1026" name="Picture 2" descr="Copa de Pitágoras, codicioso 11cm taza esmaltada, Shows de Pitágoras :  Amazon.com.mx: Hogar y Cocin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54" b="23624"/>
          <a:stretch/>
        </p:blipFill>
        <p:spPr bwMode="auto">
          <a:xfrm>
            <a:off x="3095341" y="3161489"/>
            <a:ext cx="5770880" cy="303103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0231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En simulación</a:t>
            </a:r>
            <a:endParaRPr lang="es-MX" dirty="0"/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>
          <a:xfrm>
            <a:off x="2379674" y="1347010"/>
            <a:ext cx="10266283" cy="46638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 smtClean="0"/>
              <a:t>Fase inicial						</a:t>
            </a:r>
            <a:r>
              <a:rPr lang="es-MX" sz="1800" dirty="0" smtClean="0"/>
              <a:t>Fase avanzada</a:t>
            </a:r>
          </a:p>
          <a:p>
            <a:endParaRPr lang="es-MX" dirty="0" smtClean="0"/>
          </a:p>
        </p:txBody>
      </p:sp>
      <p:pic>
        <p:nvPicPr>
          <p:cNvPr id="7" name="Marcador de contenido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60" y="6010882"/>
            <a:ext cx="2550160" cy="79181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012" y="2049023"/>
            <a:ext cx="4901016" cy="3513379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6868" y="2176774"/>
            <a:ext cx="4124528" cy="372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724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30134" y="2865120"/>
            <a:ext cx="8596668" cy="1320800"/>
          </a:xfrm>
        </p:spPr>
        <p:txBody>
          <a:bodyPr>
            <a:normAutofit/>
          </a:bodyPr>
          <a:lstStyle/>
          <a:p>
            <a:r>
              <a:rPr lang="es-MX" sz="5400" dirty="0" smtClean="0"/>
              <a:t>¿Preguntas?</a:t>
            </a:r>
            <a:endParaRPr lang="es-MX" sz="5400" dirty="0"/>
          </a:p>
        </p:txBody>
      </p:sp>
      <p:pic>
        <p:nvPicPr>
          <p:cNvPr id="4" name="Marcador de contenido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60" y="6010882"/>
            <a:ext cx="2550160" cy="79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851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30134" y="2865120"/>
            <a:ext cx="8596668" cy="1320800"/>
          </a:xfrm>
        </p:spPr>
        <p:txBody>
          <a:bodyPr>
            <a:normAutofit/>
          </a:bodyPr>
          <a:lstStyle/>
          <a:p>
            <a:r>
              <a:rPr lang="es-MX" sz="5400" dirty="0"/>
              <a:t>¡</a:t>
            </a:r>
            <a:r>
              <a:rPr lang="es-MX" sz="5400" dirty="0" smtClean="0"/>
              <a:t>Gracias!</a:t>
            </a:r>
            <a:endParaRPr lang="es-MX" sz="5400" dirty="0"/>
          </a:p>
        </p:txBody>
      </p:sp>
      <p:pic>
        <p:nvPicPr>
          <p:cNvPr id="4" name="Marcador de contenido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60" y="6010882"/>
            <a:ext cx="2550160" cy="79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66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a">
  <a:themeElements>
    <a:clrScheme name="Personalizado 1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003D79"/>
      </a:accent1>
      <a:accent2>
        <a:srgbClr val="FFBD47"/>
      </a:accent2>
      <a:accent3>
        <a:srgbClr val="1E1EBE"/>
      </a:accent3>
      <a:accent4>
        <a:srgbClr val="FF8427"/>
      </a:accent4>
      <a:accent5>
        <a:srgbClr val="CC9900"/>
      </a:accent5>
      <a:accent6>
        <a:srgbClr val="216191"/>
      </a:accent6>
      <a:hlink>
        <a:srgbClr val="CC9900"/>
      </a:hlink>
      <a:folHlink>
        <a:srgbClr val="666699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TM02900688[[fn=Faceta]]</Template>
  <TotalTime>335</TotalTime>
  <Words>233</Words>
  <Application>Microsoft Office PowerPoint</Application>
  <PresentationFormat>Panorámica</PresentationFormat>
  <Paragraphs>32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Faceta</vt:lpstr>
      <vt:lpstr>Simulación de flujo en Processing</vt:lpstr>
      <vt:lpstr>Estados de las celdas</vt:lpstr>
      <vt:lpstr>Reglas de transición</vt:lpstr>
      <vt:lpstr>Ejemplo de aplicación</vt:lpstr>
      <vt:lpstr>En simulación</vt:lpstr>
      <vt:lpstr>¿Preguntas?</vt:lpstr>
      <vt:lpstr>¡Gracias!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simple, complicado y complejo</dc:title>
  <dc:creator>Miguel López</dc:creator>
  <cp:lastModifiedBy>Miguel López</cp:lastModifiedBy>
  <cp:revision>27</cp:revision>
  <dcterms:created xsi:type="dcterms:W3CDTF">2026-02-16T06:25:31Z</dcterms:created>
  <dcterms:modified xsi:type="dcterms:W3CDTF">2026-04-13T07:53:04Z</dcterms:modified>
</cp:coreProperties>
</file>